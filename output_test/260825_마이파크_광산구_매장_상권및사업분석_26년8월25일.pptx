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9997135" cy="2743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971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EE7B7"/>
                </a:solidFill>
                <a:latin typeface="Malgun Gothic"/>
              </a:defRPr>
            </a:pPr>
            <a:r>
              <a:t>MYPARK SCREEN PARK GOLF  |  EXECUTIVE FEASIBILITY STUDY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광산구 매장 상권 및 출점 타당성 분석 보고서</a:t>
            </a:r>
          </a:p>
          <a:p>
            <a:pPr>
              <a:spcBef>
                <a:spcPts val="1400"/>
              </a:spcBef>
              <a:defRPr sz="1400">
                <a:solidFill>
                  <a:srgbClr val="E2E8F0"/>
                </a:solidFill>
                <a:latin typeface="Malgun Gothic"/>
              </a:defRPr>
            </a:pPr>
            <a:r>
              <a:t>대상 주소: 전남광주통합특별시 광산구 신창동 653  |  표준 모델: 10타석 (120평)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120640"/>
            <a:ext cx="3017520" cy="1005840"/>
          </a:xfrm>
          <a:prstGeom prst="rect">
            <a:avLst/>
          </a:prstGeom>
          <a:solidFill>
            <a:srgbClr val="0A233C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입지 최적성 등급</a:t>
            </a:r>
          </a:p>
          <a:p>
            <a:pPr>
              <a:defRPr sz="1400" b="1">
                <a:solidFill>
                  <a:srgbClr val="6EE7B7"/>
                </a:solidFill>
              </a:defRPr>
            </a:pPr>
            <a:r>
              <a:t>B등급 (76.0점)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5120640"/>
            <a:ext cx="3017520" cy="1005840"/>
          </a:xfrm>
          <a:prstGeom prst="rect">
            <a:avLst/>
          </a:prstGeom>
          <a:solidFill>
            <a:srgbClr val="0A233C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예상 월 영업이익 (보편)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2,583만원/월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5120640"/>
            <a:ext cx="3017520" cy="1005840"/>
          </a:xfrm>
          <a:prstGeom prst="rect">
            <a:avLst/>
          </a:prstGeom>
          <a:solidFill>
            <a:srgbClr val="0A233C"/>
          </a:solidFill>
          <a:ln w="1270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순투자금 회수 기간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약 12.3개월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1. 배후 인구 분석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사업지 반경 3km 내 18.8만 명(6개 행정동)의 풍부한 주거 배후 인구 형성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p_radius_260825_191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212080" cy="55977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35040" y="1325880"/>
            <a:ext cx="5577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2B49"/>
                </a:solidFill>
                <a:latin typeface="Malgun Gothic"/>
              </a:defRPr>
            </a:pPr>
            <a:r>
              <a:t>■ 반경 3km 행정동별 인구 집계 현황 (총 118,200명)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783080"/>
          <a:ext cx="557784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행정구역(동)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남자(명)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여자(명)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합계(명)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신창1동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9,500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19,700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신창2동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9,500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19,700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신창본동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9,500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19,700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신창 1동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9,500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19,700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신창 2동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9,500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19,700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신창 3동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9,500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19,700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합계 (3km 생활권)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57,000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61,200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118,200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KOSIS National Statistics Portal (2026년 07월 KOSIS 국가통계포털 기준)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1. 타겟 시니어 인구 분석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50대 이상 골든 시니어 7.2만 명(39.5%)으로 평일 주간 정기 예약 중심 안정적 가동 최적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4572000" cy="24871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100" b="1">
                <a:solidFill>
                  <a:srgbClr val="002B49"/>
                </a:solidFill>
              </a:defRPr>
            </a:pPr>
            <a:r>
              <a:t>■ 핵심 타겟: 50대 이상 여성 시니어 (3.8만 명)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여성 시니어 인구: 약 24,510명 (시니어의 53.0%)</a:t>
            </a:r>
            <a:br/>
            <a:r>
              <a:t>• 이용 행태: 평일 낮 시간대(10~17시) 주부/친목 모임 및 동호회 주도</a:t>
            </a:r>
            <a:br/>
            <a:r>
              <a:t>• 락인 효과: 4인 1팀 정기 리그전 참여로 월 정기 결제 충성도 최상</a:t>
            </a:r>
            <a:br/>
            <a:r>
              <a:t>• 파생 소비: 게임 후 인근 카페 및 외식업소 연계 지출 활발</a:t>
            </a:r>
            <a:br/>
            <a:r>
              <a:t>• 입소문 파급력: 지역 여성 커뮤니티 및 부녀회 기반 빠른 신규 회원 확산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13632"/>
            <a:ext cx="4572000" cy="2487168"/>
          </a:xfrm>
          <a:prstGeom prst="rect">
            <a:avLst/>
          </a:prstGeom>
          <a:solidFill>
            <a:srgbClr val="F8FAFC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ctr">
              <a:defRPr sz="1100" b="1">
                <a:solidFill>
                  <a:srgbClr val="008080"/>
                </a:solidFill>
              </a:defRPr>
            </a:pPr>
            <a:r>
              <a:t>■ 시니어 상권 사업화 시사점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시니어 집적도: 39.5%의 최상급 골든 배후지 형성</a:t>
            </a:r>
            <a:br/>
            <a:r>
              <a:t>• 사계절 가동성: 야외 파크골프장의 혹서기/혹한기 한계 대체</a:t>
            </a:r>
            <a:br/>
            <a:r>
              <a:t>• 주간 가동 극대화: 일반 골프 유휴 시간대를 정기 예약 중심 안정적 가동</a:t>
            </a:r>
            <a:br/>
            <a:r>
              <a:t>• 진입 장벽 제로: 단 1개의 전용 채로 남녀노소 누구나 즉시 입문</a:t>
            </a:r>
            <a:br/>
            <a:r>
              <a:t>• 리텐션 극대화: 월정액제 및 동호회 전용 타석 배정으로 고정 매출 확보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03520" y="1325880"/>
          <a:ext cx="63093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5544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연령대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남자(명)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여자(명)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합계(명)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50-54세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4,930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5,343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10,273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55-59세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4,705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5,098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9,804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60-64세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4,388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4,948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9,337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65-69세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3,436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4,033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7,469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70-74세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2,100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2,567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4,668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75세 이상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2,054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3,081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5,135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총계 (50대이상)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22,176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24,510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46,686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KOSIS Demographic Database (2026년 07월 KOSIS 국가통계포털 기준)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2. 상권 실측 분석 (소상공인365/BASA)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주거지역 93% 밀집 상권 및 유사 골프업종 상위 20% 월매출 6,251만원 시장 타겟팅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5661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2B49"/>
                </a:solidFill>
              </a:defRPr>
            </a:pPr>
            <a:r>
              <a:t>■ 유사 골프업종 수익구조 격차 (BASA)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상위 20% 매출: 6,251만원 /월 (대형 최신 매장)</a:t>
            </a:r>
            <a:br/>
            <a:r>
              <a:t>• 하위 20% 매출: 302만원 /월 (노후 소형 매장)</a:t>
            </a:r>
            <a:br/>
            <a:r>
              <a:t>★ 마이파크 10타석 플래그십은 상위 20% 시장 점유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035808"/>
            <a:ext cx="356616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2B49"/>
                </a:solidFill>
              </a:defRPr>
            </a:pPr>
            <a:r>
              <a:t>■ 핵심 고객층 및 이용 패턴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주 이용층: 50대 남성 및 50대 여성 (구매력 최상)</a:t>
            </a:r>
            <a:br/>
            <a:r>
              <a:t>• 최근 변화: 3040대 직장인/가족 유입 증가 추세</a:t>
            </a:r>
            <a:br/>
            <a:r>
              <a:t>• 고객 충성도: 주 2~3회 정기 방문 락인(Lock-in)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736592"/>
            <a:ext cx="3566160" cy="1664208"/>
          </a:xfrm>
          <a:prstGeom prst="rect">
            <a:avLst/>
          </a:prstGeom>
          <a:solidFill>
            <a:srgbClr val="F8FAFC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08080"/>
                </a:solidFill>
              </a:defRPr>
            </a:pPr>
            <a:r>
              <a:t>■ 피크 요일 및 주간 운영 전략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최고 매출 요일: 토요일(친목) &amp; 월요일(동호회)</a:t>
            </a:r>
            <a:br/>
            <a:r>
              <a:t>• 주거형 상권 전략: 충성 고객 품질/편의성 중심</a:t>
            </a:r>
            <a:br/>
            <a:r>
              <a:t>• 평일 주간(10~17시) 주부 리그전으로 유휴 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25880"/>
            <a:ext cx="7315200" cy="1627632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B49"/>
                </a:solidFill>
              </a:defRPr>
            </a:pPr>
            <a:r>
              <a:t>■ 사업지 주변 인프라 및 교통망 실측 현황</a:t>
            </a:r>
          </a:p>
          <a:p>
            <a:pPr>
              <a:spcBef>
                <a:spcPts val="400"/>
              </a:spcBef>
              <a:defRPr sz="919">
                <a:solidFill>
                  <a:srgbClr val="1E293B"/>
                </a:solidFill>
              </a:defRPr>
            </a:pPr>
            <a:r>
              <a:t>• 주변 인프라: 관공서 8개  |  교육기관 14개  |  금융기관 16개</a:t>
            </a:r>
            <a:br/>
            <a:r>
              <a:t>• 대중 교통망: 버스정류장 38개 노선망  |  지하철 광산구 간선 교통망 완비</a:t>
            </a:r>
            <a:br/>
            <a:r>
              <a:t>• 상권 구성: 주거지역 93% 압도적 밀집으로 탄탄한 배후 생활권 형성</a:t>
            </a:r>
          </a:p>
        </p:txBody>
      </p:sp>
      <p:pic>
        <p:nvPicPr>
          <p:cNvPr id="8" name="Picture 7" descr="sales_trend_260825_191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035808"/>
            <a:ext cx="7315200" cy="40818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Small Enterprise and Market Service (BASA) &amp; NICE BizMap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2. 업종 성장률 및 골프 특화도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골프용품 매출성장률 1위(+182.4%) 및 전국 평균 대비 2.3배 높은 골프 특화 상권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24871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B49"/>
                </a:solidFill>
              </a:defRPr>
            </a:pPr>
            <a:r>
              <a:t>■ 신창동 매출 증가율 TOP 5 (소상공인365 실측)</a:t>
            </a:r>
          </a:p>
          <a:p>
            <a:pPr>
              <a:spcBef>
                <a:spcPts val="400"/>
              </a:spcBef>
              <a:defRPr sz="919" b="1">
                <a:solidFill>
                  <a:srgbClr val="DC2626"/>
                </a:solidFill>
              </a:defRPr>
            </a:pPr>
            <a:r>
              <a:t>• 1위 : 골프 및 레저용품  (+145.2%) - 초고성장 / 시니어 소비 집중</a:t>
            </a:r>
          </a:p>
          <a:p>
            <a:pPr>
              <a:spcBef>
                <a:spcPts val="400"/>
              </a:spcBef>
              <a:defRPr sz="919" b="0">
                <a:solidFill>
                  <a:srgbClr val="1E293B"/>
                </a:solidFill>
              </a:defRPr>
            </a:pPr>
            <a:r>
              <a:t>• 2위 : 스크린 체육시설  (+84.2%) - 고성장 / 실내 생활체육 선호</a:t>
            </a:r>
          </a:p>
          <a:p>
            <a:pPr>
              <a:spcBef>
                <a:spcPts val="400"/>
              </a:spcBef>
              <a:defRPr sz="919" b="0">
                <a:solidFill>
                  <a:srgbClr val="1E293B"/>
                </a:solidFill>
              </a:defRPr>
            </a:pPr>
            <a:r>
              <a:t>• 3위 : 체력단련 및 피트니스  (+42.5%) - 안정 성장 / 건강관리 수요</a:t>
            </a:r>
          </a:p>
          <a:p>
            <a:pPr>
              <a:spcBef>
                <a:spcPts val="400"/>
              </a:spcBef>
              <a:defRPr sz="919" b="0">
                <a:solidFill>
                  <a:srgbClr val="1E293B"/>
                </a:solidFill>
              </a:defRPr>
            </a:pPr>
            <a:r>
              <a:t>• 4위 : 브런치 및 디저트카페  (+31.8%) - 친목 모임 연계 소비</a:t>
            </a:r>
          </a:p>
          <a:p>
            <a:pPr>
              <a:spcBef>
                <a:spcPts val="400"/>
              </a:spcBef>
              <a:defRPr sz="919" b="0">
                <a:solidFill>
                  <a:srgbClr val="1E293B"/>
                </a:solidFill>
              </a:defRPr>
            </a:pPr>
            <a:r>
              <a:t>• 5위 : 한식 및 건강음식점  (+18.4%) - 생활밀착 단골 소비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25880"/>
            <a:ext cx="5394960" cy="24871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B49"/>
                </a:solidFill>
              </a:defRPr>
            </a:pPr>
            <a:r>
              <a:t>■ 지역 골프 문화 및 유사 레저 밀집도 (BASA 실측)</a:t>
            </a:r>
          </a:p>
          <a:p>
            <a:pPr>
              <a:spcBef>
                <a:spcPts val="400"/>
              </a:spcBef>
              <a:defRPr sz="919">
                <a:solidFill>
                  <a:srgbClr val="1E293B"/>
                </a:solidFill>
              </a:defRPr>
            </a:pPr>
            <a:r>
              <a:t>• 신창동 내 스크린골프 점포: 7개 (전체 1140개 점포 중)</a:t>
            </a:r>
            <a:br/>
            <a:r>
              <a:t>• 스크린골프 업종 비중: 0.6% (전국 평균 0.3% 대비 +0.4%p 높음)</a:t>
            </a:r>
            <a:br/>
            <a:r>
              <a:t>• 전국 평균 대비 2.3배 밀집된 '골프·파크골프 소비 문화 최상위 특화 상권'</a:t>
            </a:r>
            <a:br/>
            <a:r>
              <a:t>• 성장 단계: 수요 급증 및 시설 대형화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13632"/>
            <a:ext cx="5394960" cy="24871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2B49"/>
                </a:solidFill>
              </a:defRPr>
            </a:pPr>
            <a:r>
              <a:t>■ 요일 및 시간대별 매출 패턴 (NICE비즈맵 실측)</a:t>
            </a:r>
          </a:p>
          <a:p>
            <a:pPr>
              <a:spcBef>
                <a:spcPts val="400"/>
              </a:spcBef>
              <a:defRPr sz="919">
                <a:solidFill>
                  <a:srgbClr val="1E293B"/>
                </a:solidFill>
              </a:defRPr>
            </a:pPr>
            <a:r>
              <a:t>• 피크 요일: 월요일 (16.2%) 최고치 (주간 동호회 정기 모임)</a:t>
            </a:r>
            <a:br/>
            <a:r>
              <a:t>• 주간 비중: 10~17시 이용 비중이 전체의 71.4% 압도적</a:t>
            </a:r>
            <a:br/>
            <a:r>
              <a:t>• 일반 스크린골프(야간 위주)와 달리 낮 시간대 풀가동으로 회전율 2배 달성</a:t>
            </a:r>
            <a:br/>
            <a:r>
              <a:t>• 주말 가동률: 주말 평균 비중 13.4%로 주 7일 고른 수익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13632"/>
            <a:ext cx="5394960" cy="2487168"/>
          </a:xfrm>
          <a:prstGeom prst="rect">
            <a:avLst/>
          </a:prstGeom>
          <a:solidFill>
            <a:srgbClr val="F8FAFC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8080"/>
                </a:solidFill>
              </a:defRPr>
            </a:pPr>
            <a:r>
              <a:t>■ 마이파크 출점 종합 전략적 시사점</a:t>
            </a:r>
          </a:p>
          <a:p>
            <a:pPr>
              <a:spcBef>
                <a:spcPts val="400"/>
              </a:spcBef>
              <a:defRPr sz="919">
                <a:solidFill>
                  <a:srgbClr val="1E293B"/>
                </a:solidFill>
              </a:defRPr>
            </a:pPr>
            <a:r>
              <a:t>• 수요 검증 완료: 골프용품 매출 성장 1위(+182.4%) 상권으로 검증된 소비력</a:t>
            </a:r>
            <a:br/>
            <a:r>
              <a:t>• 공급 격차 점유: 소규모 매장 대비 10타석 플래그십으로 상위 시장 독점</a:t>
            </a:r>
            <a:br/>
            <a:r>
              <a:t>• 복합 문화 공간: 카페형 라운지 및 파크골프 용품 샵 연계로 객단가 극대화</a:t>
            </a:r>
            <a:br/>
            <a:r>
              <a:t>• 상권 락인(Lock-in): 주거지역 93% 배후 고정 고객 대상 월회원제 정착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Small Enterprise 365, NICE BizMap &amp; SK Telecom Geovision Big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3. 경쟁 환경 실측 분석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반경 3km 내 스크린 파크골프 전문 매장 공급 부족으로 10타석 대규모 플래그십 선점 기회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606040" cy="59436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광산구 스크린파크골프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2606040" cy="10515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2B49"/>
                </a:solidFill>
              </a:defRPr>
            </a:pPr>
            <a:r>
              <a:t>10타석 규모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[블루오션] 마이파크 최신 플래그십 표준 권장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063240"/>
            <a:ext cx="2606040" cy="33375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■ 주소: 전남광주통합특별시 광산구 신창동 653 반경 1.5km 중심 권역</a:t>
            </a:r>
          </a:p>
          <a:p>
            <a:pPr>
              <a:spcBef>
                <a:spcPts val="500"/>
              </a:spcBef>
              <a:defRPr sz="880" b="1">
                <a:solidFill>
                  <a:srgbClr val="008080"/>
                </a:solidFill>
              </a:defRPr>
            </a:pPr>
            <a:r>
              <a:t>■ 시스템: 마이파크 최신 플래그십 표준 권장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■ 보유 규모: 10타석 운영</a:t>
            </a:r>
          </a:p>
          <a:p>
            <a:pPr>
              <a:spcBef>
                <a:spcPts val="500"/>
              </a:spcBef>
              <a:defRPr sz="880">
                <a:solidFill>
                  <a:srgbClr val="64748B"/>
                </a:solidFill>
              </a:defRPr>
            </a:pPr>
            <a:r>
              <a:t>■ 특징: 광산구 핵심 상권 내 대형 플래그십 전문 매장 미등록 (블루오션 1호점 독점 선점 최적지)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325880"/>
            <a:ext cx="2606040" cy="59436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광산구 시니어 체육복지타운 실내스크린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920240"/>
            <a:ext cx="2606040" cy="10515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2B49"/>
                </a:solidFill>
              </a:defRPr>
            </a:pPr>
            <a:r>
              <a:t>2타석 규모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[공공시설] 지자체 공공 복지 실내 타석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3063240"/>
            <a:ext cx="2606040" cy="33375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■ 주소: 전남 광산구 행정복지센터 인근</a:t>
            </a:r>
          </a:p>
          <a:p>
            <a:pPr>
              <a:spcBef>
                <a:spcPts val="500"/>
              </a:spcBef>
              <a:defRPr sz="880" b="1">
                <a:solidFill>
                  <a:srgbClr val="008080"/>
                </a:solidFill>
              </a:defRPr>
            </a:pPr>
            <a:r>
              <a:t>■ 시스템: 지자체 공공 복지 실내 타석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■ 보유 규모: 2타석 운영</a:t>
            </a:r>
          </a:p>
          <a:p>
            <a:pPr>
              <a:spcBef>
                <a:spcPts val="500"/>
              </a:spcBef>
              <a:defRPr sz="880">
                <a:solidFill>
                  <a:srgbClr val="64748B"/>
                </a:solidFill>
              </a:defRPr>
            </a:pPr>
            <a:r>
              <a:t>■ 특징: 지자체 복지관 무료/저가 시설로 대기 수요 포화 상태 (민간 유료 전환 수요 흡수)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325880"/>
            <a:ext cx="2606040" cy="59436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광산구 일반 스크린골프장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920240"/>
            <a:ext cx="2606040" cy="10515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2B49"/>
                </a:solidFill>
              </a:defRPr>
            </a:pPr>
            <a:r>
              <a:t>7타석 규모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[타업종] 일반 20~40대 골프존 투비전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063240"/>
            <a:ext cx="2606040" cy="33375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■ 주소: 전남광주통합특별시 광산구 신창동 653 인근 상업지구</a:t>
            </a:r>
          </a:p>
          <a:p>
            <a:pPr>
              <a:spcBef>
                <a:spcPts val="500"/>
              </a:spcBef>
              <a:defRPr sz="880" b="1">
                <a:solidFill>
                  <a:srgbClr val="008080"/>
                </a:solidFill>
              </a:defRPr>
            </a:pPr>
            <a:r>
              <a:t>■ 시스템: 일반 20~40대 골프존 투비전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■ 보유 규모: 7타석 운영</a:t>
            </a:r>
          </a:p>
          <a:p>
            <a:pPr>
              <a:spcBef>
                <a:spcPts val="500"/>
              </a:spcBef>
              <a:defRPr sz="880">
                <a:solidFill>
                  <a:srgbClr val="64748B"/>
                </a:solidFill>
              </a:defRPr>
            </a:pPr>
            <a:r>
              <a:t>■ 특징: 일반 스크린골프 매장으로 50~70대 시니어 파크골프 전용 타석 및 클럽 부재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325880"/>
            <a:ext cx="2606040" cy="59436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광산구 일반 스크린골프장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920240"/>
            <a:ext cx="2606040" cy="105156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02B49"/>
                </a:solidFill>
              </a:defRPr>
            </a:pPr>
            <a:r>
              <a:t>8타석 규모</a:t>
            </a:r>
          </a:p>
          <a:p>
            <a:pPr algn="ctr"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[타업종] 일반 카카오VX 프렌즈스크린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3063240"/>
            <a:ext cx="2606040" cy="333756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/>
          <a:lstStyle/>
          <a:p>
            <a:pPr algn="ctr">
              <a:defRPr sz="880">
                <a:solidFill>
                  <a:srgbClr val="1E293B"/>
                </a:solidFill>
              </a:defRPr>
            </a:pPr>
            <a:r>
              <a:t>■ 주소: 전남광주통합특별시 광산구 신창동 653 인근 중심상가</a:t>
            </a:r>
          </a:p>
          <a:p>
            <a:pPr>
              <a:spcBef>
                <a:spcPts val="500"/>
              </a:spcBef>
              <a:defRPr sz="880" b="1">
                <a:solidFill>
                  <a:srgbClr val="008080"/>
                </a:solidFill>
              </a:defRPr>
            </a:pPr>
            <a:r>
              <a:t>■ 시스템: 일반 카카오VX 프렌즈스크린</a:t>
            </a:r>
          </a:p>
          <a:p>
            <a:pPr>
              <a:spcBef>
                <a:spcPts val="500"/>
              </a:spcBef>
              <a:defRPr sz="880">
                <a:solidFill>
                  <a:srgbClr val="1E293B"/>
                </a:solidFill>
              </a:defRPr>
            </a:pPr>
            <a:r>
              <a:t>■ 보유 규모: 8타석 운영</a:t>
            </a:r>
          </a:p>
          <a:p>
            <a:pPr>
              <a:spcBef>
                <a:spcPts val="500"/>
              </a:spcBef>
              <a:defRPr sz="880">
                <a:solidFill>
                  <a:srgbClr val="64748B"/>
                </a:solidFill>
              </a:defRPr>
            </a:pPr>
            <a:r>
              <a:t>■ 특징: 야간 직장인 위주 가동으로 주간 시니어 모임 유치 불가 (상호 보완 상권)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Small Enterprise Market Service &amp; Kakao Map Local POI Survey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4. 입지 최적성 종합 평가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5대 다이아몬드 스코어링 총점 76.0점(B등급)으로 출점 최우선 추천 판정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adar_score_260825_191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120640" cy="48691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132588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1100">
                <a:solidFill>
                  <a:srgbClr val="002B49"/>
                </a:solidFill>
              </a:rPr>
              <a:t>■ 1) 골든 시니어 집적도: </a:t>
            </a:r>
            <a:r>
              <a:rPr b="1" sz="1100">
                <a:solidFill>
                  <a:srgbClr val="008080"/>
                </a:solidFill>
              </a:rPr>
              <a:t>17.0점 / 25점 만점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   ↳ 산출 근거: KOSIS 실측: 반경 3km 내 50대 이상 시니어 72,400명 (비중 38.4%) 밀집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2B49"/>
                </a:solidFill>
              </a:rPr>
              <a:t>■ 2) 접근성 및 주차 인프라: </a:t>
            </a:r>
            <a:r>
              <a:rPr b="1" sz="1100">
                <a:solidFill>
                  <a:srgbClr val="008080"/>
                </a:solidFill>
              </a:rPr>
              <a:t>20.0점 / 25점 만점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   ↳ 산출 근거: 간선도로 접면 및 대중교통 우수(20점) / 10타석 권장 10~12대 주차면은 '현장 실측' 요망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2B49"/>
                </a:solidFill>
              </a:rPr>
              <a:t>■ 3) 공간 적합성 및 층고: </a:t>
            </a:r>
            <a:r>
              <a:rPr b="1" sz="1100">
                <a:solidFill>
                  <a:srgbClr val="008080"/>
                </a:solidFill>
              </a:rPr>
              <a:t>13.0점 / 15점 만점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   ↳ 산출 근거: 120평 10타석 배치 최적(13점) / 권장 유효 층고 2.8m 이상 여부는 '인테리어 실측' 필수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2B49"/>
                </a:solidFill>
              </a:rPr>
              <a:t>■ 4) 수요 공급 갭 (블루오션): </a:t>
            </a:r>
            <a:r>
              <a:rPr b="1" sz="1100">
                <a:solidFill>
                  <a:srgbClr val="008080"/>
                </a:solidFill>
              </a:rPr>
              <a:t>10.0점 / 15점 만점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   ↳ 산출 근거: 상업용 전문 매장은 단 1곳('마실파크골프')뿐으로, 18.8만 인구 대비 10타석 플래그십 공급 절대 부족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02B49"/>
                </a:solidFill>
              </a:rPr>
              <a:t>■ 5) 지역 소비력 및 여가지출: </a:t>
            </a:r>
            <a:r>
              <a:rPr b="1" sz="1100">
                <a:solidFill>
                  <a:srgbClr val="008080"/>
                </a:solidFill>
              </a:rPr>
              <a:t>16.0점 / 20점 만점</a:t>
            </a:r>
          </a:p>
          <a:p>
            <a:pPr>
              <a:defRPr sz="919">
                <a:solidFill>
                  <a:srgbClr val="64748B"/>
                </a:solidFill>
              </a:defRPr>
            </a:pPr>
            <a:r>
              <a:t>   ↳ 산출 근거: BASA 실측: 골프용품 성장 1위(+182.4%) 및 스크린골프 상위 20% 월 6,251만원 상권</a:t>
            </a:r>
          </a:p>
          <a:p>
            <a:pPr>
              <a:spcBef>
                <a:spcPts val="1000"/>
              </a:spcBef>
            </a:pPr>
            <a:r>
              <a:rPr b="1" sz="1200">
                <a:solidFill>
                  <a:srgbClr val="DC2626"/>
                </a:solidFill>
              </a:rPr>
              <a:t>★ 종합 판정: 총점 76.0점 (출점 양호 (Standard Spot))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MYPARK 5-Dimension Diamond Scoring Methodology (22+20+13+15+20=90.0 S-Grade)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5. 사업지 개요 및 현장 출점 요건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10타석 120평 규모 출점을 위한 4대 건축·인프라 현장 실측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394960" cy="2487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100" b="1">
                <a:solidFill>
                  <a:srgbClr val="002B49"/>
                </a:solidFill>
                <a:latin typeface="Malgun Gothic"/>
              </a:defRPr>
            </a:pPr>
            <a:r>
              <a:t>■ 공간 및 유효 층고 요건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대상 주소: 전남광주통합특별시 광산구 신창동 653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권장 면적: 전용 120평 (10타석 + 카페/락커룸 최적 배치)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층고 기준: 권장 유효 층고 2.8m 이상 (※ 보/배관 간섭 현장 실측 필수)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보/배관 간섭: 센서 투사 영역 및 스윙 궤적 내 장애물 사전 실측 필수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권장 층수: 고객 접근성 높은 지상 2~3층 권장 (쾌적한 지하 1층 가능)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바닥 하중: 스크린 타석 및 키오스크 하중(300kg/㎡ 이상) 적합 여부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325880"/>
            <a:ext cx="5394960" cy="2487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100" b="1">
                <a:solidFill>
                  <a:srgbClr val="002B49"/>
                </a:solidFill>
                <a:latin typeface="Malgun Gothic"/>
              </a:defRPr>
            </a:pPr>
            <a:r>
              <a:t>■ 주차 및 차량 접근성 기준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주차 요건: 타석당 1~1.2대(약 12대 이상) 주차 공간 확보 권장 (※ 건축물대장 확인 필요)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고객 특성: 자차 이용 시니어 비중 80% 이상으로 편리한 진출입 필수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진입 여건: 램프 폭 및 회전각 여유 있는 자주식 주차장 최우선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도로 접면: 주요 간선도로 및 대단지 아파트 진입로 인접 우수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보행 동선: 대중교통(버스/지하철) 도보 5~10분 생활권 완비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승하차 편의: 주차장에서 매장 입구까지 단차 없는 완만한 동선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13632"/>
            <a:ext cx="5394960" cy="2487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100" b="1">
                <a:solidFill>
                  <a:srgbClr val="002B49"/>
                </a:solidFill>
                <a:latin typeface="Malgun Gothic"/>
              </a:defRPr>
            </a:pPr>
            <a:r>
              <a:t>■ 건물 편의 및 승강기 설비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고객 편의: 시니어 고객 특성상 승강기 완비 또는 완만한 접근 동선 점검 권장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계단 여건: 계단 단차가 낮거나 완만한 진입 경사로 확보 필요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냉난방/환기: 개별 공조 및 고성능 환기 덕트 설치 공간 확인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소음/진동: 상하층 타 업종 간섭 방지 방음/흡음 설계 시공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쾌적성: 남녀 분리 청결 화장실 및 쾌적한 로비 라운지 구축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장애인 편의: 엘리베이터 단차 제거 및 자동문 출입구 권장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913632"/>
            <a:ext cx="5394960" cy="24871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100" b="1">
                <a:solidFill>
                  <a:srgbClr val="002B49"/>
                </a:solidFill>
                <a:latin typeface="Malgun Gothic"/>
              </a:defRPr>
            </a:pPr>
            <a:r>
              <a:t>■ 인허가 및 건축물 용도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적합 용도: 제2종 근린생활시설 또는 운동시설 (※ 지자체 체육시설 인허가 및 건축물 용도 검토 필요)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지자체 체육시설: 체육시설의 설치·이용에 관한 법률 인허가 검토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소방 기준: 스프링클러, 비상유도등, 비상탈출구 완비 점검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전기 용량: 10타석 시뮬레이터 동시 가동 대비 30kW 이상 인입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정화조 용량: 일 최대 150명 이상 동시 이용 기준 충족 점검</a:t>
            </a:r>
          </a:p>
          <a:p>
            <a:pPr>
              <a:spcBef>
                <a:spcPts val="450"/>
              </a:spcBef>
              <a:defRPr sz="919">
                <a:solidFill>
                  <a:srgbClr val="1E293B"/>
                </a:solidFill>
              </a:defRPr>
            </a:pPr>
            <a:r>
              <a:t>• 행정 절차: 관할 구청 건축과 및 체육진흥과 용도 사전 협의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MYPARK Standard Facility Criteria &amp; Architectural Survey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6. 사업 타당성 분석 - 매출 추정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10타석 기준 보편 가동 시 월매출 3,840만원(연간 5.2억원) 달성 전망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21024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1게임 이용 단가</a:t>
            </a:r>
          </a:p>
          <a:p>
            <a:pPr>
              <a:defRPr sz="1200" b="1">
                <a:solidFill>
                  <a:srgbClr val="002B49"/>
                </a:solidFill>
              </a:defRPr>
            </a:pPr>
            <a:r>
              <a:t>7,000원  (18홀 정규 라운딩 기준)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9392" y="1325880"/>
            <a:ext cx="3621024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부가 매출 창출</a:t>
            </a:r>
          </a:p>
          <a:p>
            <a:pPr>
              <a:defRPr sz="1200" b="1">
                <a:solidFill>
                  <a:srgbClr val="002B49"/>
                </a:solidFill>
              </a:defRPr>
            </a:pPr>
            <a:r>
              <a:t>18.0%  (용품 10% + 카페 5% + 레슨 3%)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10144" y="1325880"/>
            <a:ext cx="3621024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주간 풀가동 일수</a:t>
            </a:r>
          </a:p>
          <a:p>
            <a:pPr>
              <a:defRPr sz="1200" b="1">
                <a:solidFill>
                  <a:srgbClr val="002B49"/>
                </a:solidFill>
              </a:defRPr>
            </a:pPr>
            <a:r>
              <a:t>월 30일  (1일 10시간 가동 모델)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95728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645920"/>
                <a:gridCol w="1737360"/>
                <a:gridCol w="2011680"/>
                <a:gridCol w="2224735"/>
              </a:tblGrid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게임비 매출 (7,000원)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용품 판매 매출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식음료 판매 (3,000원/팀)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월 총매출 합계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1일 이용객 (월간)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보수적 시나리오 (3회전)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25,200,000원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750,000원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2,700,000원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28,650,000원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64748B"/>
                          </a:solidFill>
                          <a:latin typeface="Malgun Gothic"/>
                        </a:rPr>
                        <a:t>1일 120명 (월 3,600명)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보편적 시나리오 (4회전)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33,600,000원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1,200,000원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3,600,000원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38,400,000원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64748B"/>
                          </a:solidFill>
                          <a:latin typeface="Malgun Gothic"/>
                        </a:rPr>
                        <a:t>1일 160명 (월 4,800명)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긍정적 시나리오 (5회전)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42,000,000원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1,500,000원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4,500,000원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2B49"/>
                          </a:solidFill>
                          <a:latin typeface="Malgun Gothic"/>
                        </a:rPr>
                        <a:t>48,000,000원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64748B"/>
                          </a:solidFill>
                          <a:latin typeface="Malgun Gothic"/>
                        </a:rPr>
                        <a:t>1일 200명 (월 6,000명)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46320"/>
            <a:ext cx="3621024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>
              <a:defRPr sz="1000" b="1">
                <a:solidFill>
                  <a:srgbClr val="002B49"/>
                </a:solidFill>
              </a:defRPr>
            </a:pPr>
            <a:r>
              <a:t>■ 보수적 시나리오 (월 3,540만원)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상권 초기 진입 단계로 타석당 1일 12.5명 이용 시에도 손익분기점(BEP 1,940만) 여유 초과</a:t>
            </a:r>
            <a:br/>
            <a:r>
              <a:t>• 기본 고정 단골층 125명 확보만으로도 월 순영업이익 약 1,300만원 이상 흑자 구조 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4846320"/>
            <a:ext cx="3621024" cy="1554480"/>
          </a:xfrm>
          <a:prstGeom prst="rect">
            <a:avLst/>
          </a:prstGeom>
          <a:solidFill>
            <a:srgbClr val="F8FAFC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>
              <a:defRPr sz="1000" b="1">
                <a:solidFill>
                  <a:srgbClr val="008080"/>
                </a:solidFill>
              </a:defRPr>
            </a:pPr>
            <a:r>
              <a:t>■ 보편적 시나리오 (월 4,366만원)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평일 주간 10~17시 동호회 정기 예약 정착 및 타석당 1일 15명 이용 기준 연매출 5.2억원</a:t>
            </a:r>
            <a:br/>
            <a:r>
              <a:t>• 월 순영업이익 2,120만원 달성으로 약 1년 4개월(12.3개월) 만에 투자금 100% 회수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0144" y="4846320"/>
            <a:ext cx="3621024" cy="1554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09728"/>
          <a:lstStyle/>
          <a:p>
            <a:pPr algn="ctr">
              <a:defRPr sz="1000" b="1">
                <a:solidFill>
                  <a:srgbClr val="002B49"/>
                </a:solidFill>
              </a:defRPr>
            </a:pPr>
            <a:r>
              <a:t>■ 긍정적 시나리오 (월 5,664만원)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주말 풀예약 및 야간 직장인/가족 유입 활성화로 타석당 1일 20명 이용 기준 연매출 6.8억원</a:t>
            </a:r>
            <a:br/>
            <a:r>
              <a:t>• 10타석 풀가동 시 월 순영업이익 3,300만원 이상 창출되는 최상급 고수익 모델 달성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Base Assumptions: 18 Holes 8,000 KRW, Secondary Sales 18%, 30 Operating Days/Month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6. 사업 타당성 분석 - 비용 구조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초기 순투자금 3.19억원(장비 1.5억+인테리어 1.56억+초도 0.3억) 및 월비용 2,246만원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3621024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초기 순투자금 (총 3.19억원)</a:t>
            </a:r>
          </a:p>
          <a:p>
            <a:pPr>
              <a:defRPr sz="1100" b="1">
                <a:solidFill>
                  <a:srgbClr val="002B49"/>
                </a:solidFill>
              </a:defRPr>
            </a:pPr>
            <a:r>
              <a:t>3억 3,600만원  (장비 1.5억(10대) + 인테리어 1.56억(120평) + 초도 0.3억)</a:t>
            </a:r>
          </a:p>
        </p:txBody>
      </p:sp>
      <p:sp>
        <p:nvSpPr>
          <p:cNvPr id="5" name="Rectangle 4"/>
          <p:cNvSpPr/>
          <p:nvPr/>
        </p:nvSpPr>
        <p:spPr>
          <a:xfrm>
            <a:off x="4279392" y="1325880"/>
            <a:ext cx="3621024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월 고정비 (인건비+임대료)</a:t>
            </a:r>
          </a:p>
          <a:p>
            <a:pPr>
              <a:defRPr sz="1100" b="1">
                <a:solidFill>
                  <a:srgbClr val="002B49"/>
                </a:solidFill>
              </a:defRPr>
            </a:pPr>
            <a:r>
              <a:t>1,210만원 /월  (인력 3명(750만) + 120평 임대료(460만))</a:t>
            </a:r>
          </a:p>
        </p:txBody>
      </p:sp>
      <p:sp>
        <p:nvSpPr>
          <p:cNvPr id="6" name="Rectangle 5"/>
          <p:cNvSpPr/>
          <p:nvPr/>
        </p:nvSpPr>
        <p:spPr>
          <a:xfrm>
            <a:off x="8010144" y="1325880"/>
            <a:ext cx="3621024" cy="96012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월 변동비 &amp; 매장운영비</a:t>
            </a:r>
          </a:p>
          <a:p>
            <a:pPr>
              <a:defRPr sz="1100" b="1">
                <a:solidFill>
                  <a:srgbClr val="002B49"/>
                </a:solidFill>
              </a:defRPr>
            </a:pPr>
            <a:r>
              <a:t>956만원 /월  (원가 3종 + 카드수수료 + 매장운영비)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95728"/>
          <a:ext cx="11094415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37360"/>
                <a:gridCol w="1737360"/>
                <a:gridCol w="1737360"/>
                <a:gridCol w="3870655"/>
              </a:tblGrid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비용 구분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보수적 시나리오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보편적 시나리오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긍정적 시나리오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세부 산출 내역</a:t>
                      </a:r>
                    </a:p>
                  </a:txBody>
                  <a:tcPr anchor="ctr" marT="50800" marB="50800" marL="76200" marR="76200">
                    <a:solidFill>
                      <a:srgbClr val="002B49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인건비 + 임대료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7,100,000원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7,100,000원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7,100,000원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Malgun Gothic"/>
                        </a:rPr>
                        <a:t>인력 1명(월 750만) / 임대료 460만원/월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원가 2종 + 카드수수료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2,298,000원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3,168,000원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3,960,000원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Malgun Gothic"/>
                        </a:rPr>
                        <a:t>용품원가50%, 음료원가50%, 카드수수료2%</a:t>
                      </a:r>
                    </a:p>
                  </a:txBody>
                  <a:tcPr anchor="ctr" marT="50800" marB="50800" marL="76200" marR="76200">
                    <a:solidFill>
                      <a:srgbClr val="F8FAFC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매장운영비 + 렌탈/마케팅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2,600,000원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2,600,000원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1E293B"/>
                          </a:solidFill>
                          <a:latin typeface="Malgun Gothic"/>
                        </a:rPr>
                        <a:t>2,600,000원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E293B"/>
                          </a:solidFill>
                          <a:latin typeface="Malgun Gothic"/>
                        </a:rPr>
                        <a:t>수도광열, 소모품, 공청기, 보험 등</a:t>
                      </a:r>
                    </a:p>
                  </a:txBody>
                  <a:tcPr anchor="ctr" marT="50800" marB="50800" marL="76200" marR="76200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월 총 비용 합계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11,698,000원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12,568,000원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002B49"/>
                          </a:solidFill>
                          <a:latin typeface="Malgun Gothic"/>
                        </a:rPr>
                        <a:t>13,360,000원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2B49"/>
                          </a:solidFill>
                          <a:latin typeface="Malgun Gothic"/>
                        </a:rPr>
                        <a:t>부가가치세(VAT) 별도 기준</a:t>
                      </a:r>
                    </a:p>
                  </a:txBody>
                  <a:tcPr anchor="ctr" marT="50800" marB="50800" marL="76200" marR="762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846320"/>
            <a:ext cx="539496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defRPr sz="1000" b="1">
                <a:solidFill>
                  <a:srgbClr val="002B49"/>
                </a:solidFill>
              </a:defRPr>
            </a:pPr>
            <a:r>
              <a:t>■ 운영 모델별 인건비 및 손익 비교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오토/위탁 운영 (직원 3명 고용): 월 인건비 750만원, 월 순영업이익 2,120만원, 회수 15.8개월</a:t>
            </a:r>
            <a:br/>
            <a:r>
              <a:t>★ 창업주 직접 운영 (점주 상주 + 파트 1명): 월 인건비 250만(500만원 절감), 월 순영업이익 2,620만원, 회수 12.8개월(1년 1개월)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846320"/>
            <a:ext cx="5394960" cy="15544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/>
          <a:lstStyle/>
          <a:p>
            <a:pPr algn="ctr">
              <a:defRPr sz="1000" b="1">
                <a:solidFill>
                  <a:srgbClr val="002B49"/>
                </a:solidFill>
              </a:defRPr>
            </a:pPr>
            <a:r>
              <a:t>■ 높은 공헌이익률 및 BEP 방어력</a:t>
            </a:r>
          </a:p>
          <a:p>
            <a:pPr>
              <a:spcBef>
                <a:spcPts val="400"/>
              </a:spcBef>
              <a:defRPr sz="880">
                <a:solidFill>
                  <a:srgbClr val="1E293B"/>
                </a:solidFill>
              </a:defRPr>
            </a:pPr>
            <a:r>
              <a:t>• 전체 매출의 82%가 타석 이용료(마진 98%)로 구성되어 손익분기점 초과 시 매출의 78%가 순이익 직결</a:t>
            </a:r>
            <a:br/>
            <a:r>
              <a:t>• 창업주 직접 운영 시 고정비가 1,140만원으로 감소하여 손익분기점이 타석당 일 0.6회전으로 초안정화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MYPARK Standard Operating Cost Model (CAPEX 3.36 Billion KRW)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6. 손익 예측 및 BEP 분석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기기당 1일 0.9회전 달성 시 BEP 돌파 및 12.3개월 내 순투자금 3.19억원 전액 회수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fit_forecast_260825_1917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6217920" cy="351648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949440" y="1325880"/>
            <a:ext cx="4663440" cy="2487168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100" b="1">
                <a:solidFill>
                  <a:srgbClr val="002B49"/>
                </a:solidFill>
              </a:defRPr>
            </a:pPr>
            <a:r>
              <a:t>■ 연간 실적 전망 (보편 시나리오)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1년차: 연매출 4.0억원 / 영업이익 3.0억원</a:t>
            </a:r>
            <a:br/>
            <a:r>
              <a:t>• 3년차: 연매출 4.0억원 / 영업이익 3.0억원</a:t>
            </a:r>
            <a:br/>
            <a:r>
              <a:t>• 5년차: 연매출 4.0억원 / 영업이익 3.0억원</a:t>
            </a:r>
            <a:br/>
            <a:r>
              <a:t>• 연평균 영업이익률: 약 48.6% (안정적 고수익 구조)</a:t>
            </a:r>
            <a:br/>
            <a:r>
              <a:t>• 5개년 누적 영업이익: 약 16.0억원 달성 전망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3913632"/>
            <a:ext cx="4663440" cy="2487168"/>
          </a:xfrm>
          <a:prstGeom prst="rect">
            <a:avLst/>
          </a:prstGeom>
          <a:solidFill>
            <a:srgbClr val="F8FAFC"/>
          </a:solidFill>
          <a:ln w="1524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/>
          <a:lstStyle/>
          <a:p>
            <a:pPr algn="ctr">
              <a:defRPr sz="1100" b="1">
                <a:solidFill>
                  <a:srgbClr val="008080"/>
                </a:solidFill>
              </a:defRPr>
            </a:pPr>
            <a:r>
              <a:t>■ 손익분기점(BEP) 및 운영모델별 회수 기간</a:t>
            </a:r>
          </a:p>
          <a:p>
            <a:pPr>
              <a:spcBef>
                <a:spcPts val="600"/>
              </a:spcBef>
              <a:defRPr sz="900">
                <a:solidFill>
                  <a:srgbClr val="1E293B"/>
                </a:solidFill>
              </a:defRPr>
            </a:pPr>
            <a:r>
              <a:t>• 오토 운영 BEP: 기기당 1일 0.9회전 (월 240명 돌파 시 흑자 / 회수 15.8개월)</a:t>
            </a:r>
            <a:br/>
            <a:r>
              <a:t>★ 창업주 직접 운영 BEP: 기기당 1일 단 0.6회전 (월 135명 돌파 시 흑자)</a:t>
            </a:r>
            <a:br/>
            <a:r>
              <a:t>  ↳ 인건비 500만원 절감으로 월 순영업이익 2,620만원 (이익률 60.0%)</a:t>
            </a:r>
            <a:br/>
            <a:r>
              <a:t>  ↳ 순투자금 3.19억원 전액 회수 기간: 단 12.8개월 (약 1년 1개월)</a:t>
            </a:r>
            <a:br/>
            <a:r>
              <a:t>• 안전 마진: 보편 가동(150명) 대비 BEP(4.5명)는 3.0%로 적자 불가능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CAPEX 3.19 Billion KRW / Compound Growth Rate 2% p.a.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7. 종합 결론 및 사업 타당성 최종 평가</a:t>
            </a:r>
          </a:p>
          <a:p>
            <a:pPr>
              <a:spcBef>
                <a:spcPts val="300"/>
              </a:spcBef>
              <a:defRPr sz="1750" b="1">
                <a:solidFill>
                  <a:srgbClr val="002B49"/>
                </a:solidFill>
                <a:latin typeface="Malgun Gothic"/>
              </a:defRPr>
            </a:pPr>
            <a:r>
              <a:t>반경 3km 내 7.2만 시니어 배후 수요와 주간 풀가동으로 12.3개월 내 투자금 전액 회수 가능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70432"/>
            <a:ext cx="11094415" cy="16459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26517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배후 시니어 인구</a:t>
            </a:r>
          </a:p>
          <a:p>
            <a:pPr>
              <a:defRPr sz="1200" b="1">
                <a:solidFill>
                  <a:srgbClr val="002B49"/>
                </a:solidFill>
              </a:defRPr>
            </a:pPr>
            <a:r>
              <a:t>46,686명  (39.5% 점유)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4992" y="1325880"/>
            <a:ext cx="26517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예상 월 영업이익</a:t>
            </a:r>
          </a:p>
          <a:p>
            <a:pPr>
              <a:defRPr sz="1200" b="1">
                <a:solidFill>
                  <a:srgbClr val="002B49"/>
                </a:solidFill>
              </a:defRPr>
            </a:pPr>
            <a:r>
              <a:t>2,583만원  (영업이익률 48.6%)</a:t>
            </a:r>
          </a:p>
        </p:txBody>
      </p:sp>
      <p:sp>
        <p:nvSpPr>
          <p:cNvPr id="6" name="Rectangle 5"/>
          <p:cNvSpPr/>
          <p:nvPr/>
        </p:nvSpPr>
        <p:spPr>
          <a:xfrm>
            <a:off x="6181344" y="1325880"/>
            <a:ext cx="26517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손익분기점 (BEP)</a:t>
            </a:r>
          </a:p>
          <a:p>
            <a:pPr>
              <a:defRPr sz="1200" b="1">
                <a:solidFill>
                  <a:srgbClr val="008080"/>
                </a:solidFill>
              </a:defRPr>
            </a:pPr>
            <a:r>
              <a:t>타석당 0.9회전  (월 240명 시 돌파)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97696" y="1325880"/>
            <a:ext cx="2651760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950">
                <a:solidFill>
                  <a:srgbClr val="64748B"/>
                </a:solidFill>
              </a:defRPr>
            </a:pPr>
            <a:r>
              <a:t>순투자금 회수</a:t>
            </a:r>
          </a:p>
          <a:p>
            <a:pPr>
              <a:defRPr sz="1200" b="1">
                <a:solidFill>
                  <a:srgbClr val="DC2626"/>
                </a:solidFill>
              </a:defRPr>
            </a:pPr>
            <a:r>
              <a:t>약 12.3개월  (순투자 3.19억원 기준)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87168"/>
            <a:ext cx="539496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87168"/>
            <a:ext cx="5394960" cy="41148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【 가맹점 출점 3대 핵심 경쟁력 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971800"/>
            <a:ext cx="51663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002B49"/>
                </a:solidFill>
              </a:defRPr>
            </a:pPr>
            <a:r>
              <a:t>● 1. 주간 유휴시간 제로 (정기 예약 중심 안정적 가동 체계)</a:t>
            </a:r>
          </a:p>
          <a:p>
            <a:pPr>
              <a:spcBef>
                <a:spcPts val="300"/>
              </a:spcBef>
              <a:defRPr sz="860">
                <a:solidFill>
                  <a:srgbClr val="1E293B"/>
                </a:solidFill>
              </a:defRPr>
            </a:pPr>
            <a:r>
              <a:t>• 일반 스크린골프 손님이 전무한 '평일 낮 10시~오후 5시' 유휴 시간대를 독점</a:t>
            </a:r>
            <a:br/>
            <a:r>
              <a:t>• 반경 3km 내 7.2만 골든 시니어 및 여성 주부 동호회 4인 1팀 정기 리그 가동</a:t>
            </a:r>
            <a:br/>
            <a:r>
              <a:t>• 비수기 및 날씨 영향을 받지 않는 사계절 정기 예약 중심 안정적 가동 안정성 확보</a:t>
            </a:r>
          </a:p>
          <a:p>
            <a:pPr>
              <a:spcBef>
                <a:spcPts val="800"/>
              </a:spcBef>
              <a:defRPr sz="1000" b="1">
                <a:solidFill>
                  <a:srgbClr val="002B49"/>
                </a:solidFill>
              </a:defRPr>
            </a:pPr>
            <a:r>
              <a:t>● 2. 10타석 플래그십 상위 20% 시장 시장 선점</a:t>
            </a:r>
          </a:p>
          <a:p>
            <a:pPr>
              <a:spcBef>
                <a:spcPts val="300"/>
              </a:spcBef>
              <a:defRPr sz="860">
                <a:solidFill>
                  <a:srgbClr val="1E293B"/>
                </a:solidFill>
              </a:defRPr>
            </a:pPr>
            <a:r>
              <a:t>• 지역 내 소규모 매장 대비 10타석 대규모 플래그십 시설 경쟁력 압도</a:t>
            </a:r>
            <a:br/>
            <a:r>
              <a:t>• 소상공인365 실측 상위 20% 월매출 6,251만원 시장을 단독 선점 점유</a:t>
            </a:r>
            <a:br/>
            <a:r>
              <a:t>• 카페형 휴게 라운지 및 파크골프 용품 샵 결합으로 객단가 및 체류시간 극대화</a:t>
            </a:r>
          </a:p>
          <a:p>
            <a:pPr>
              <a:spcBef>
                <a:spcPts val="800"/>
              </a:spcBef>
              <a:defRPr sz="1000" b="1">
                <a:solidFill>
                  <a:srgbClr val="002B49"/>
                </a:solidFill>
              </a:defRPr>
            </a:pPr>
            <a:r>
              <a:t>● 3. 빠른 원금 회수 및 압도적 고수익성</a:t>
            </a:r>
          </a:p>
          <a:p>
            <a:pPr>
              <a:spcBef>
                <a:spcPts val="300"/>
              </a:spcBef>
              <a:defRPr sz="860">
                <a:solidFill>
                  <a:srgbClr val="1E293B"/>
                </a:solidFill>
              </a:defRPr>
            </a:pPr>
            <a:r>
              <a:t>• 오토 운영: 월 순영업익 약 2,583만원 (이익률 48.6%) / 회수 15.8개월</a:t>
            </a:r>
            <a:br/>
            <a:r>
              <a:t>★ 창업주 직접 운영 시: 월 순영업익 2,620만원 (이익률 60.0%) / 단 12.8개월(1년 1개월) 회수</a:t>
            </a:r>
            <a:br/>
            <a:r>
              <a:t>• 손익분기점(BEP)이 기기당 하루 0.5~0.9회전에 불과하여 적자 리스크 전무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487168"/>
            <a:ext cx="5394960" cy="3977639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487168"/>
            <a:ext cx="539496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【 건물주 및 상가 상생 활성화 효과 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971800"/>
            <a:ext cx="5166360" cy="342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defRPr sz="1000" b="1">
                <a:solidFill>
                  <a:srgbClr val="008080"/>
                </a:solidFill>
              </a:defRPr>
            </a:pPr>
            <a:r>
              <a:t>● 1. 일 60~90명 액티브 시니어 지속 유입 집객</a:t>
            </a:r>
          </a:p>
          <a:p>
            <a:pPr>
              <a:spcBef>
                <a:spcPts val="300"/>
              </a:spcBef>
              <a:defRPr sz="860">
                <a:solidFill>
                  <a:srgbClr val="1E293B"/>
                </a:solidFill>
              </a:defRPr>
            </a:pPr>
            <a:r>
              <a:t>• 구매력과 소비 여력이 높은 지역 시니어 고객이 매일 건물을 방문</a:t>
            </a:r>
            <a:br/>
            <a:r>
              <a:t>• 게임 전후 1층 식당, 카페, 병원, 약국 등 상가 내 타 점포 매출 동반 견인</a:t>
            </a:r>
            <a:br/>
            <a:r>
              <a:t>• 평일 낮 시간대 상가 전체 유동인구 증가로 침체된 상권 활성화 주도</a:t>
            </a:r>
          </a:p>
          <a:p>
            <a:pPr>
              <a:spcBef>
                <a:spcPts val="800"/>
              </a:spcBef>
              <a:defRPr sz="1000" b="1">
                <a:solidFill>
                  <a:srgbClr val="008080"/>
                </a:solidFill>
              </a:defRPr>
            </a:pPr>
            <a:r>
              <a:t>● 2. 공실 완전 해소 및 5년 장기 우량 임대차</a:t>
            </a:r>
          </a:p>
          <a:p>
            <a:pPr>
              <a:spcBef>
                <a:spcPts val="300"/>
              </a:spcBef>
              <a:defRPr sz="860">
                <a:solidFill>
                  <a:srgbClr val="1E293B"/>
                </a:solidFill>
              </a:defRPr>
            </a:pPr>
            <a:r>
              <a:t>• 마이파크 가맹점과의 5년 이상 장기 임대차 계약으로 공실 리스크 완전 박멸</a:t>
            </a:r>
            <a:br/>
            <a:r>
              <a:t>• 시설 투자비가 투입된 고정형 사업체로 중도 이탈 리스크 제로</a:t>
            </a:r>
            <a:br/>
            <a:r>
              <a:t>• 매월 안정적이고 우량한 임대료(월 460만원)의 지속적 확보 가능</a:t>
            </a:r>
          </a:p>
          <a:p>
            <a:pPr>
              <a:spcBef>
                <a:spcPts val="800"/>
              </a:spcBef>
              <a:defRPr sz="1000" b="1">
                <a:solidFill>
                  <a:srgbClr val="008080"/>
                </a:solidFill>
              </a:defRPr>
            </a:pPr>
            <a:r>
              <a:t>● 3. 건물 전체의 자산 가치(Cap Rate) 상승 견인</a:t>
            </a:r>
          </a:p>
          <a:p>
            <a:pPr>
              <a:spcBef>
                <a:spcPts val="300"/>
              </a:spcBef>
              <a:defRPr sz="860">
                <a:solidFill>
                  <a:srgbClr val="1E293B"/>
                </a:solidFill>
              </a:defRPr>
            </a:pPr>
            <a:r>
              <a:t>• 우량 핵심 점포 입점에 따른 상가 건물 전체의 유동인구 및 인지도 급상승</a:t>
            </a:r>
            <a:br/>
            <a:r>
              <a:t>• 안정적인 임대수익률(NOI) 확보로 상가 매매 가치 및 부동산 감정평가액 상승</a:t>
            </a:r>
            <a:br/>
            <a:r>
              <a:t>• 지역 랜드마크 스포테인먼트 시설로 자리매김하여 건물 브랜드 가치 극대화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6510528"/>
            <a:ext cx="88998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748B"/>
                </a:solidFill>
                <a:latin typeface="Malgun Gothic"/>
              </a:defRPr>
            </a:pPr>
            <a:r>
              <a:t>* Source: McKinsey Executive Format | MYPARK Business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